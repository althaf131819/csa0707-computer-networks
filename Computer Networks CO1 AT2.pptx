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4455160"/>
            <a:ext cx="5932170" cy="146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56260"/>
            <a:ext cx="1562100" cy="929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65240" y="816610"/>
            <a:ext cx="6705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400">
                <a:solidFill>
                  <a:srgbClr val="FFFFFF"/>
                </a:solidFill>
                <a:latin typeface="Noto Serif"/>
              </a:rPr>
              <a:t>Althaf A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569" y="941069"/>
            <a:ext cx="4851400" cy="2019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1" b="1" sz="1600">
                <a:solidFill>
                  <a:srgbClr val="000000"/>
                </a:solidFill>
                <a:latin typeface="Noto Serif"/>
              </a:rPr>
              <a:t>Concept Map Report: OSI Data Units, Addressing, and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5240" y="1021080"/>
            <a:ext cx="9639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sz="1400">
                <a:solidFill>
                  <a:srgbClr val="FFFFFF"/>
                </a:solidFill>
                <a:latin typeface="Noto Serif"/>
              </a:rPr>
              <a:t>(192521257)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7650" y="1173480"/>
            <a:ext cx="123443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6" b="1" sz="1600">
                <a:solidFill>
                  <a:srgbClr val="000000"/>
                </a:solidFill>
                <a:latin typeface="Noto Serif"/>
              </a:rPr>
              <a:t>Error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7870" y="1463040"/>
            <a:ext cx="279908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i="1" sz="1100">
                <a:solidFill>
                  <a:srgbClr val="555555"/>
                </a:solidFill>
                <a:latin typeface="Noto Serif"/>
              </a:rPr>
              <a:t>Networking Fundamentals — OSI Model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85950"/>
            <a:ext cx="4889500" cy="2019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sz="1600">
                <a:solidFill>
                  <a:srgbClr val="2E74B5"/>
                </a:solidFill>
                <a:latin typeface="Noto Serif"/>
              </a:rPr>
              <a:t>Question 2: Concept Map of Data Units Across OSI Layers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05990"/>
            <a:ext cx="58039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000">
                <a:solidFill>
                  <a:srgbClr val="000000"/>
                </a:solidFill>
                <a:latin typeface="Noto Serif"/>
              </a:rPr>
              <a:t>Task: Construct a concept map linking data units (Segment, Packet, Frame, Bits) with their respective OSI layers,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2040"/>
            <a:ext cx="36804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5" sz="1000">
                <a:solidFill>
                  <a:srgbClr val="000000"/>
                </a:solidFill>
                <a:latin typeface="Noto Serif"/>
              </a:rPr>
              <a:t>and analyze how the transformation of data units supports transmission.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650"/>
            <a:ext cx="17335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300">
                <a:solidFill>
                  <a:srgbClr val="2E74B5"/>
                </a:solidFill>
                <a:latin typeface="Noto Serif"/>
              </a:rPr>
              <a:t>2.1 What is a 'Data Unit'?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2270"/>
            <a:ext cx="583565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Every message you send over a network — an email, a photo, a chat message — starts as raw information. As this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8320"/>
            <a:ext cx="561720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information travels down through the layers of the OSI (Open Systems Interconnection) model on the sending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15640"/>
            <a:ext cx="590804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computer, each layer wraps it with its own control information (called a header, and sometimes a trailer). Each time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1690"/>
            <a:ext cx="571754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this wrapping happens, the data is given a new name. This renamed, re-wrapped unit of data is called a Protocol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07740"/>
            <a:ext cx="32207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000">
                <a:solidFill>
                  <a:srgbClr val="000000"/>
                </a:solidFill>
                <a:latin typeface="Noto Serif"/>
              </a:rPr>
              <a:t>Data Unit (PDU) — simply, 'the data unit at a particular layer.'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49040"/>
            <a:ext cx="591947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So a 'data unit' is just the name given to the message at a specific stage of its journey through the layers — the same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95090"/>
            <a:ext cx="331216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underlying information, but with a different 'outfit' at each layer.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3700"/>
            <a:ext cx="28105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300">
                <a:solidFill>
                  <a:srgbClr val="2E74B5"/>
                </a:solidFill>
                <a:latin typeface="Noto Serif"/>
              </a:rPr>
              <a:t>2.2 The Concept Map: Layer to Data Unit 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16940" y="4452620"/>
          <a:ext cx="5939789" cy="2081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/>
                <a:gridCol w="1399539"/>
                <a:gridCol w="2508250"/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49" b="1" sz="1000">
                          <a:solidFill>
                            <a:srgbClr val="FFFFFF"/>
                          </a:solidFill>
                          <a:latin typeface="Noto Serif"/>
                        </a:rPr>
                        <a:t>OSI Layer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7620" algn="l">
                        <a:lnSpc>
                          <a:spcPts val="990"/>
                        </a:lnSpc>
                      </a:pPr>
                      <a:r>
                        <a:rPr spc="-76" b="1" sz="1000">
                          <a:solidFill>
                            <a:srgbClr val="FFFFFF"/>
                          </a:solidFill>
                          <a:latin typeface="Noto Serif"/>
                        </a:rPr>
                        <a:t>Data Unit Name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3810" algn="l">
                        <a:lnSpc>
                          <a:spcPts val="990"/>
                        </a:lnSpc>
                      </a:pPr>
                      <a:r>
                        <a:rPr spc="-72" b="1" sz="1000">
                          <a:solidFill>
                            <a:srgbClr val="FFFFFF"/>
                          </a:solidFill>
                          <a:latin typeface="Noto Serif"/>
                        </a:rPr>
                        <a:t>What Happens at This Layer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5909"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5080" algn="l">
                        <a:lnSpc>
                          <a:spcPts val="1140"/>
                        </a:lnSpc>
                      </a:pPr>
                      <a:r>
                        <a:rPr spc="-67" sz="1000">
                          <a:solidFill>
                            <a:srgbClr val="000000"/>
                          </a:solidFill>
                          <a:latin typeface="Noto Serif"/>
                        </a:rPr>
                        <a:t>Application / Presentation / Session </a:t>
                      </a:r>
                      <a:br/>
                      <a:r>
                        <a:rPr spc="-48" sz="1000">
                          <a:solidFill>
                            <a:srgbClr val="000000"/>
                          </a:solidFill>
                          <a:latin typeface="Noto Serif"/>
                        </a:rPr>
                        <a:t>(Layers 7,6,5)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620" algn="l">
                        <a:lnSpc>
                          <a:spcPts val="1000"/>
                        </a:lnSpc>
                      </a:pPr>
                      <a:r>
                        <a:rPr spc="-67" sz="1000">
                          <a:solidFill>
                            <a:srgbClr val="000000"/>
                          </a:solidFill>
                          <a:latin typeface="Noto Serif"/>
                        </a:rPr>
                        <a:t>Data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40"/>
                        </a:lnSpc>
                      </a:pPr>
                      <a:r>
                        <a:rPr spc="-75" sz="1000">
                          <a:solidFill>
                            <a:srgbClr val="000000"/>
                          </a:solidFill>
                          <a:latin typeface="Noto Serif"/>
                        </a:rPr>
                        <a:t>User information is created and formatted (e.g., </a:t>
                      </a:r>
                      <a:r>
                        <a:rPr spc="-69" sz="1000">
                          <a:solidFill>
                            <a:srgbClr val="000000"/>
                          </a:solidFill>
                          <a:latin typeface="Noto Serif"/>
                        </a:rPr>
                        <a:t>an HTTP request, an email body).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71" sz="1000">
                          <a:solidFill>
                            <a:srgbClr val="000000"/>
                          </a:solidFill>
                          <a:latin typeface="Noto Serif"/>
                        </a:rPr>
                        <a:t>Transport (Layer 4)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</a:pPr>
                    </a:p>
                    <a:p>
                      <a:pPr marL="7620" algn="l">
                        <a:lnSpc>
                          <a:spcPts val="990"/>
                        </a:lnSpc>
                      </a:pPr>
                      <a:r>
                        <a:rPr spc="-76" sz="1000">
                          <a:solidFill>
                            <a:srgbClr val="000000"/>
                          </a:solidFill>
                          <a:latin typeface="Noto Serif"/>
                        </a:rPr>
                        <a:t>Segment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50"/>
                        </a:lnSpc>
                      </a:pPr>
                      <a:r>
                        <a:rPr spc="-77" sz="1000">
                          <a:solidFill>
                            <a:srgbClr val="000000"/>
                          </a:solidFill>
                          <a:latin typeface="Noto Serif"/>
                        </a:rPr>
                        <a:t>Data is broken into pieces; port numbers, </a:t>
                      </a:r>
                      <a:br/>
                      <a:r>
                        <a:rPr spc="-85" sz="1000">
                          <a:solidFill>
                            <a:srgbClr val="000000"/>
                          </a:solidFill>
                          <a:latin typeface="Noto Serif"/>
                        </a:rPr>
                        <a:t>sequence numbers, and error-checking info are </a:t>
                      </a:r>
                      <a:r>
                        <a:rPr spc="-80" sz="1000">
                          <a:solidFill>
                            <a:srgbClr val="000000"/>
                          </a:solidFill>
                          <a:latin typeface="Noto Serif"/>
                        </a:rPr>
                        <a:t>added.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66" sz="1000">
                          <a:solidFill>
                            <a:srgbClr val="000000"/>
                          </a:solidFill>
                          <a:latin typeface="Noto Serif"/>
                        </a:rPr>
                        <a:t>Network (Layer 3)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620" algn="l">
                        <a:lnSpc>
                          <a:spcPts val="990"/>
                        </a:lnSpc>
                      </a:pPr>
                      <a:r>
                        <a:rPr spc="-69" sz="1000">
                          <a:solidFill>
                            <a:srgbClr val="000000"/>
                          </a:solidFill>
                          <a:latin typeface="Noto Serif"/>
                        </a:rPr>
                        <a:t>Packet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50"/>
                        </a:lnSpc>
                      </a:pPr>
                      <a:r>
                        <a:rPr spc="-80" sz="1000">
                          <a:solidFill>
                            <a:srgbClr val="000000"/>
                          </a:solidFill>
                          <a:latin typeface="Noto Serif"/>
                        </a:rPr>
                        <a:t>Source and destination IP addresses are added so </a:t>
                      </a:r>
                      <a:r>
                        <a:rPr spc="-82" sz="1000">
                          <a:solidFill>
                            <a:srgbClr val="000000"/>
                          </a:solidFill>
                          <a:latin typeface="Noto Serif"/>
                        </a:rPr>
                        <a:t>the data can be routed across networks.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58" sz="1000">
                          <a:solidFill>
                            <a:srgbClr val="000000"/>
                          </a:solidFill>
                          <a:latin typeface="Noto Serif"/>
                        </a:rPr>
                        <a:t>Data Link (Layer 2)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</a:p>
                    <a:p>
                      <a:pPr marL="7620" algn="l">
                        <a:lnSpc>
                          <a:spcPts val="990"/>
                        </a:lnSpc>
                      </a:pPr>
                      <a:r>
                        <a:rPr spc="-94" sz="1000">
                          <a:solidFill>
                            <a:srgbClr val="000000"/>
                          </a:solidFill>
                          <a:latin typeface="Noto Serif"/>
                        </a:rPr>
                        <a:t>Frame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50"/>
                        </a:lnSpc>
                      </a:pPr>
                      <a:r>
                        <a:rPr spc="-73" sz="1000">
                          <a:solidFill>
                            <a:srgbClr val="000000"/>
                          </a:solidFill>
                          <a:latin typeface="Noto Serif"/>
                        </a:rPr>
                        <a:t>MAC addresses and a trailer (for error checking) </a:t>
                      </a:r>
                      <a:r>
                        <a:rPr spc="-81" sz="1000">
                          <a:solidFill>
                            <a:srgbClr val="000000"/>
                          </a:solidFill>
                          <a:latin typeface="Noto Serif"/>
                        </a:rPr>
                        <a:t>are added so the data can travel across one </a:t>
                      </a:r>
                      <a:br/>
                      <a:r>
                        <a:rPr spc="-63" sz="1000">
                          <a:solidFill>
                            <a:srgbClr val="000000"/>
                          </a:solidFill>
                          <a:latin typeface="Noto Serif"/>
                        </a:rPr>
                        <a:t>physical link.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43229"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57" sz="1000">
                          <a:solidFill>
                            <a:srgbClr val="000000"/>
                          </a:solidFill>
                          <a:latin typeface="Noto Serif"/>
                        </a:rPr>
                        <a:t>Physical (Layer 1)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</a:p>
                    <a:p>
                      <a:pPr marL="7620" algn="l">
                        <a:lnSpc>
                          <a:spcPts val="990"/>
                        </a:lnSpc>
                      </a:pPr>
                      <a:r>
                        <a:rPr spc="-38" sz="1000">
                          <a:solidFill>
                            <a:srgbClr val="000000"/>
                          </a:solidFill>
                          <a:latin typeface="Noto Serif"/>
                        </a:rPr>
                        <a:t>Bits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50"/>
                        </a:lnSpc>
                      </a:pPr>
                      <a:r>
                        <a:rPr spc="-75" sz="1000">
                          <a:solidFill>
                            <a:srgbClr val="000000"/>
                          </a:solidFill>
                          <a:latin typeface="Noto Serif"/>
                        </a:rPr>
                        <a:t>The frame is converted into raw electrical, </a:t>
                      </a:r>
                      <a:br/>
                      <a:r>
                        <a:rPr spc="-65" sz="1000">
                          <a:solidFill>
                            <a:srgbClr val="000000"/>
                          </a:solidFill>
                          <a:latin typeface="Noto Serif"/>
                        </a:rPr>
                        <a:t>optical, or radio signals (1s and 0s) for </a:t>
                      </a:r>
                      <a:br/>
                      <a:r>
                        <a:rPr spc="-83" sz="1000">
                          <a:solidFill>
                            <a:srgbClr val="000000"/>
                          </a:solidFill>
                          <a:latin typeface="Noto Serif"/>
                        </a:rPr>
                        <a:t>transmission.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14400" y="6828790"/>
            <a:ext cx="1701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200">
                <a:solidFill>
                  <a:srgbClr val="1F4D78"/>
                </a:solidFill>
                <a:latin typeface="Noto Serif"/>
              </a:rPr>
              <a:t>Concept Map (visual form)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250" y="7072630"/>
            <a:ext cx="3136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3" sz="1000">
                <a:solidFill>
                  <a:srgbClr val="000000"/>
                </a:solidFill>
                <a:latin typeface="Roboto"/>
              </a:rPr>
              <a:t> Data (Application / Presentation / Session)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5220" y="7246620"/>
            <a:ext cx="314071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1000">
                <a:solidFill>
                  <a:srgbClr val="000000"/>
                </a:solidFill>
                <a:latin typeface="Roboto"/>
              </a:rPr>
              <a:t> | Transport Layer adds Header --&gt; 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5220" y="7421880"/>
            <a:ext cx="139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3" sz="1000">
                <a:solidFill>
                  <a:srgbClr val="000000"/>
                </a:solidFill>
                <a:latin typeface="Roboto"/>
              </a:rPr>
              <a:t> 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250" y="7595870"/>
            <a:ext cx="558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000">
                <a:solidFill>
                  <a:srgbClr val="000000"/>
                </a:solidFill>
                <a:latin typeface="Roboto"/>
              </a:rPr>
              <a:t> Segment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5220" y="7769859"/>
            <a:ext cx="314071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1000">
                <a:solidFill>
                  <a:srgbClr val="000000"/>
                </a:solidFill>
                <a:latin typeface="Roboto"/>
              </a:rPr>
              <a:t> | Network Layer adds IP Header --&gt; PACKET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5220" y="7943850"/>
            <a:ext cx="1397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3" sz="1000">
                <a:solidFill>
                  <a:srgbClr val="000000"/>
                </a:solidFill>
                <a:latin typeface="Roboto"/>
              </a:rPr>
              <a:t> 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250" y="8119109"/>
            <a:ext cx="490219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sz="1000">
                <a:solidFill>
                  <a:srgbClr val="000000"/>
                </a:solidFill>
                <a:latin typeface="Roboto"/>
              </a:rPr>
              <a:t> Packet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5220" y="8291830"/>
            <a:ext cx="398017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1000">
                <a:solidFill>
                  <a:srgbClr val="000000"/>
                </a:solidFill>
                <a:latin typeface="Roboto"/>
              </a:rPr>
              <a:t> | Data Link Layer adds MAC Header + Trailer --&gt; FRAME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5220" y="8465820"/>
            <a:ext cx="139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3" sz="1000">
                <a:solidFill>
                  <a:srgbClr val="000000"/>
                </a:solidFill>
                <a:latin typeface="Roboto"/>
              </a:rPr>
              <a:t> 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250" y="8639810"/>
            <a:ext cx="42036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sz="1000">
                <a:solidFill>
                  <a:srgbClr val="000000"/>
                </a:solidFill>
                <a:latin typeface="Roboto"/>
              </a:rPr>
              <a:t> 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5220" y="8815070"/>
            <a:ext cx="34226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1000">
                <a:solidFill>
                  <a:srgbClr val="000000"/>
                </a:solidFill>
                <a:latin typeface="Roboto"/>
              </a:rPr>
              <a:t> | Physical Layer converts to signals --&gt; BITS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5220" y="8989060"/>
            <a:ext cx="1397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3" sz="1000">
                <a:solidFill>
                  <a:srgbClr val="000000"/>
                </a:solidFill>
                <a:latin typeface="Roboto"/>
              </a:rPr>
              <a:t>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9" y="1281430"/>
            <a:ext cx="5980430" cy="1473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19" y="1428750"/>
            <a:ext cx="5980430" cy="146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9" y="7463790"/>
            <a:ext cx="5980430" cy="14731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19" y="7611109"/>
            <a:ext cx="5980430" cy="146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4250" y="938530"/>
            <a:ext cx="5864859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6" sz="1000">
                <a:solidFill>
                  <a:srgbClr val="000000"/>
                </a:solidFill>
                <a:latin typeface="Roboto"/>
              </a:rPr>
              <a:t> Bits ----&gt; [ transmitted over cable / air / fiber ] ----&gt; Receiver reverses the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87120"/>
            <a:ext cx="49021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sz="1000">
                <a:solidFill>
                  <a:srgbClr val="000000"/>
                </a:solidFill>
                <a:latin typeface="Roboto"/>
              </a:rPr>
              <a:t>process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92810" y="1278890"/>
          <a:ext cx="5988049" cy="298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8049"/>
              </a:tblGrid>
              <a:tr h="298450"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20320" algn="l">
                        <a:lnSpc>
                          <a:spcPts val="1150"/>
                        </a:lnSpc>
                      </a:pPr>
                      <a:r>
                        <a:rPr spc="-116" i="1" b="1" sz="1000">
                          <a:solidFill>
                            <a:srgbClr val="000000"/>
                          </a:solidFill>
                          <a:latin typeface="Noto Serif"/>
                        </a:rPr>
                        <a:t>Summary: </a:t>
                      </a:r>
                      <a:r>
                        <a:rPr spc="-59" i="1" sz="1000">
                          <a:solidFill>
                            <a:srgbClr val="000000"/>
                          </a:solidFill>
                          <a:latin typeface="Noto Serif"/>
                        </a:rPr>
                        <a:t>Each OSI layer produces its own named data unit — Data, Segment, Packet, Frame, Bits, from top to </a:t>
                      </a:r>
                      <a:br/>
                      <a:r>
                        <a:rPr spc="-62" i="1" sz="1000">
                          <a:solidFill>
                            <a:srgbClr val="000000"/>
                          </a:solidFill>
                          <a:latin typeface="Noto Serif"/>
                        </a:rPr>
                        <a:t>bottom — because each layer adds specific control information needed for that stage of the journey.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989998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989998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989998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98999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1761489"/>
            <a:ext cx="46596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300">
                <a:solidFill>
                  <a:srgbClr val="2E74B5"/>
                </a:solidFill>
                <a:latin typeface="Noto Serif"/>
              </a:rPr>
              <a:t>2.3 How This Transformation (Encapsulation) Supports Transmission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21839"/>
            <a:ext cx="594995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The process of wrapping data with a new header (and sometimes trailer) at each layer, as it moves down the stack, is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67890"/>
            <a:ext cx="5661659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000">
                <a:solidFill>
                  <a:srgbClr val="000000"/>
                </a:solidFill>
                <a:latin typeface="Noto Serif"/>
              </a:rPr>
              <a:t>called ENCAPSULATION. The reverse process at the receiver — removing each header layer by layer as data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13940"/>
            <a:ext cx="54889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000">
                <a:solidFill>
                  <a:srgbClr val="000000"/>
                </a:solidFill>
                <a:latin typeface="Noto Serif"/>
              </a:rPr>
              <a:t>moves up the stack — is called DECAPSULATION. This transformation is what makes reliable, organized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9990"/>
            <a:ext cx="18351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transmission possible. Here is why: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01290"/>
            <a:ext cx="762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01290"/>
            <a:ext cx="51435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000">
                <a:solidFill>
                  <a:srgbClr val="000000"/>
                </a:solidFill>
                <a:latin typeface="Noto Serif"/>
              </a:rPr>
              <a:t>Layer independence: Because each layer only adds and reads its own header, layers can be designed,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47340"/>
            <a:ext cx="53987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upgraded, or replaced independently. For example, you can switch from Wi-Fi to Ethernet (Physical/Data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93390"/>
            <a:ext cx="380237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000">
                <a:solidFill>
                  <a:srgbClr val="000000"/>
                </a:solidFill>
                <a:latin typeface="Noto Serif"/>
              </a:rPr>
              <a:t>Link layers) without changing how the Network or Transport layers work.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9024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90240"/>
            <a:ext cx="52260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Addressing at the right scope: A Segment doesn't know about IP addresses, and a Packet doesn't know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37560"/>
            <a:ext cx="513969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about MAC addresses. By adding the right addressing information at the right layer (port numbers at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83610"/>
            <a:ext cx="544068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Transport, IP addresses at Network, MAC addresses at Data Link) each layer solves exactly the problem it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29660"/>
            <a:ext cx="180593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000">
                <a:solidFill>
                  <a:srgbClr val="000000"/>
                </a:solidFill>
                <a:latin typeface="Noto Serif"/>
              </a:rPr>
              <a:t>needs to solve — no more, no less.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2651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26510"/>
            <a:ext cx="532638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000">
                <a:solidFill>
                  <a:srgbClr val="000000"/>
                </a:solidFill>
                <a:latin typeface="Noto Serif"/>
              </a:rPr>
              <a:t>Error and flow control at the right scope: Frames carry a trailer used for detecting transmission errors on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971290"/>
            <a:ext cx="474853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000">
                <a:solidFill>
                  <a:srgbClr val="000000"/>
                </a:solidFill>
                <a:latin typeface="Noto Serif"/>
              </a:rPr>
              <a:t>that one physical link; Segments carry sequence numbers used for ensuring correct order and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117340"/>
            <a:ext cx="49504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retransmission end-to-end. Splitting these jobs across layers keeps each one simple and efficient.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14190"/>
            <a:ext cx="762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14190"/>
            <a:ext cx="493522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Reassembly is possible: Because each layer's header records information needed to undo its own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60240"/>
            <a:ext cx="53238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000">
                <a:solidFill>
                  <a:srgbClr val="000000"/>
                </a:solidFill>
                <a:latin typeface="Noto Serif"/>
              </a:rPr>
              <a:t>transformation (e.g., sequence numbers in a Segment header), the receiving side can decapsulate step by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606290"/>
            <a:ext cx="5397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000">
                <a:solidFill>
                  <a:srgbClr val="000000"/>
                </a:solidFill>
                <a:latin typeface="Noto Serif"/>
              </a:rPr>
              <a:t>step and reconstruct the original Data exactly, even though it may have been broken into many Packets or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52340"/>
            <a:ext cx="1181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Frames along the way.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27930"/>
            <a:ext cx="13385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1F4D78"/>
                </a:solidFill>
                <a:latin typeface="Noto Serif"/>
              </a:rPr>
              <a:t>Real-world examples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26542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265420"/>
            <a:ext cx="539242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000">
                <a:solidFill>
                  <a:srgbClr val="000000"/>
                </a:solidFill>
                <a:latin typeface="Noto Serif"/>
              </a:rPr>
              <a:t>Example 1 — Streaming a video call: The video/audio Data is broken into Segments (Transport) so it can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411470"/>
            <a:ext cx="53022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000">
                <a:solidFill>
                  <a:srgbClr val="000000"/>
                </a:solidFill>
                <a:latin typeface="Noto Serif"/>
              </a:rPr>
              <a:t>be sent as many small chunks; each Segment becomes a Packet (Network) so it can be routed across the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556250"/>
            <a:ext cx="54533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internet to the other participant; each Packet becomes one or more Frames (Data Link) to cross each Wi-Fi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702300"/>
            <a:ext cx="3365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000">
                <a:solidFill>
                  <a:srgbClr val="000000"/>
                </a:solidFill>
                <a:latin typeface="Noto Serif"/>
              </a:rPr>
              <a:t>or Ethernet hop; finally, Bits carry it as electrical or radio signals.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89915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899150"/>
            <a:ext cx="52654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000">
                <a:solidFill>
                  <a:srgbClr val="000000"/>
                </a:solidFill>
                <a:latin typeface="Noto Serif"/>
              </a:rPr>
              <a:t>Example 2 — Loading a webpage: Your browser's HTTP request is Data; Transport (TCP) turns it into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045200"/>
            <a:ext cx="53276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000">
                <a:solidFill>
                  <a:srgbClr val="000000"/>
                </a:solidFill>
                <a:latin typeface="Noto Serif"/>
              </a:rPr>
              <a:t>Segments with sequence numbers so the web server can reassemble the request correctly even if packets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191250"/>
            <a:ext cx="54495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arrive out of order; Network (IP) wraps each Segment into a Packet addressed to the server's IP; Data Link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6338570"/>
            <a:ext cx="519049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wraps each Packet into a Frame addressed to the next device's MAC address (e.g., your home router).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653415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6534150"/>
            <a:ext cx="54546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000">
                <a:solidFill>
                  <a:srgbClr val="000000"/>
                </a:solidFill>
                <a:latin typeface="Noto Serif"/>
              </a:rPr>
              <a:t>Example 3 — Sending a large file over a company LAN: The file (Data) is too large for one Frame, so it is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681470"/>
            <a:ext cx="52971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split into many Segments, then Packets, then Frames — each Frame is small enough to fit the network's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6827520"/>
            <a:ext cx="5375909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000">
                <a:solidFill>
                  <a:srgbClr val="000000"/>
                </a:solidFill>
                <a:latin typeface="Noto Serif"/>
              </a:rPr>
              <a:t>maximum size limit (MTU), so transmission stays efficient and errors affect only a small piece of the file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6973570"/>
            <a:ext cx="14325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000">
                <a:solidFill>
                  <a:srgbClr val="000000"/>
                </a:solidFill>
                <a:latin typeface="Noto Serif"/>
              </a:rPr>
              <a:t>rather than the whole thing. 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892810" y="7169150"/>
          <a:ext cx="5988049" cy="59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8049"/>
              </a:tblGrid>
              <a:tr h="590550"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20320" algn="l">
                        <a:lnSpc>
                          <a:spcPts val="1150"/>
                        </a:lnSpc>
                      </a:pPr>
                      <a:r>
                        <a:rPr spc="-116" i="1" b="1" sz="1000">
                          <a:solidFill>
                            <a:srgbClr val="000000"/>
                          </a:solidFill>
                          <a:highlight>
                            <a:srgbClr val="efefef">
                              <a:alpha val="100000"/>
                            </a:srgbClr>
                          </a:highlight>
                          <a:latin typeface="Noto Serif"/>
                        </a:rPr>
                        <a:t>Summary: </a:t>
                      </a:r>
                      <a:r>
                        <a:rPr spc="-61" i="1" sz="1000">
                          <a:solidFill>
                            <a:srgbClr val="000000"/>
                          </a:solidFill>
                          <a:highlight>
                            <a:srgbClr val="efefef">
                              <a:alpha val="100000"/>
                            </a:srgbClr>
                          </a:highlight>
                          <a:latin typeface="Noto Serif"/>
                        </a:rPr>
                        <a:t>Encapsulation transforms one large piece of Data into progressively smaller, addressed, and checkable </a:t>
                      </a:r>
                      <a:r>
                        <a:rPr spc="-58" i="1" sz="1000">
                          <a:solidFill>
                            <a:srgbClr val="000000"/>
                          </a:solidFill>
                          <a:latin typeface="Noto Serif"/>
                        </a:rPr>
                        <a:t>units (Segment, Packet, Frame, Bits). This division of responsibility across layers is what allows large, complex </a:t>
                      </a:r>
                      <a:br/>
                      <a:r>
                        <a:rPr spc="-63" i="1" sz="1000">
                          <a:solidFill>
                            <a:srgbClr val="000000"/>
                          </a:solidFill>
                          <a:latin typeface="Noto Serif"/>
                        </a:rPr>
                        <a:t>messages to be transmitted reliably over shared, imperfect physical media, and reassembled correctly at the </a:t>
                      </a:r>
                      <a:br/>
                      <a:r>
                        <a:rPr spc="-66" i="1" sz="1000">
                          <a:solidFill>
                            <a:srgbClr val="000000"/>
                          </a:solidFill>
                          <a:latin typeface="Noto Serif"/>
                        </a:rPr>
                        <a:t>destination.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989998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989998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989998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98999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914400" y="7979409"/>
            <a:ext cx="588264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1" sz="1600">
                <a:solidFill>
                  <a:srgbClr val="2E74B5"/>
                </a:solidFill>
                <a:latin typeface="Noto Serif"/>
              </a:rPr>
              <a:t>Question 3: MAC Address vs IP Address — Local and Global Delivery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8298180"/>
            <a:ext cx="5651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000">
                <a:solidFill>
                  <a:srgbClr val="000000"/>
                </a:solidFill>
                <a:latin typeface="Noto Serif"/>
              </a:rPr>
              <a:t>Given concept map: Data Link Layer to MAC Address to Local Delivery, and Network Layer to IP Address to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8444230"/>
            <a:ext cx="88518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000">
                <a:solidFill>
                  <a:srgbClr val="000000"/>
                </a:solidFill>
                <a:latin typeface="Noto Serif"/>
              </a:rPr>
              <a:t>Global Delivery.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4250" y="8693150"/>
            <a:ext cx="384047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1" sz="1000">
                <a:solidFill>
                  <a:srgbClr val="000000"/>
                </a:solidFill>
                <a:latin typeface="Roboto"/>
              </a:rPr>
              <a:t> Data Link Layer --&gt; MAC Address --&gt; Local Delivery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4250" y="8867140"/>
            <a:ext cx="3910329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7" sz="1000">
                <a:solidFill>
                  <a:srgbClr val="000000"/>
                </a:solidFill>
                <a:latin typeface="Roboto"/>
              </a:rPr>
              <a:t> Network Layer  --&gt; IP Address  --&gt; Global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5006340"/>
            <a:ext cx="5932170" cy="147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2180"/>
            <a:ext cx="43954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Task: Explain how these relationships ensure complete data delivery across networks.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40790"/>
            <a:ext cx="236727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300">
                <a:solidFill>
                  <a:srgbClr val="2E74B5"/>
                </a:solidFill>
                <a:latin typeface="Noto Serif"/>
              </a:rPr>
              <a:t>3.1 Two Different Addressing Jobs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3680"/>
            <a:ext cx="423418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Delivering data across the internet is really two delivery problems solved together: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4371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43710"/>
            <a:ext cx="54724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Problem A — Getting the data to the right network, anywhere in the world (global delivery). This is solved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89760"/>
            <a:ext cx="52793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000">
                <a:solidFill>
                  <a:srgbClr val="000000"/>
                </a:solidFill>
                <a:latin typeface="Noto Serif"/>
              </a:rPr>
              <a:t>by the Network Layer using the IP (Internet Protocol) address — a logical address that identifies which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37080"/>
            <a:ext cx="330581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000">
                <a:solidFill>
                  <a:srgbClr val="000000"/>
                </a:solidFill>
                <a:latin typeface="Noto Serif"/>
              </a:rPr>
              <a:t>network and which host, no matter where that host physically is.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3266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32660"/>
            <a:ext cx="522350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000">
                <a:solidFill>
                  <a:srgbClr val="000000"/>
                </a:solidFill>
                <a:latin typeface="Noto Serif"/>
              </a:rPr>
              <a:t>Problem B — Getting the data across one physical link, from one device to the very next device (local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40"/>
            <a:ext cx="52019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000">
                <a:solidFill>
                  <a:srgbClr val="000000"/>
                </a:solidFill>
                <a:latin typeface="Noto Serif"/>
              </a:rPr>
              <a:t>delivery). This is solved by the Data Link Layer using the MAC (Media Access Control) address — a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24760"/>
            <a:ext cx="48018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000">
                <a:solidFill>
                  <a:srgbClr val="000000"/>
                </a:solidFill>
                <a:latin typeface="Noto Serif"/>
              </a:rPr>
              <a:t>physical address unique on that local network segment (e.g., your home LAN or office LAN).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349122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300">
                <a:solidFill>
                  <a:srgbClr val="2E74B5"/>
                </a:solidFill>
                <a:latin typeface="Noto Serif"/>
              </a:rPr>
              <a:t>3.2 Why Both Are Needed — Hop by Hop Delivery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96260"/>
            <a:ext cx="57213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A packet travelling from your laptop to a server on the other side of the world passes through many routers. The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2310"/>
            <a:ext cx="55587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source and destination IP addresses never change during the whole trip — this is what makes global delivery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7090"/>
            <a:ext cx="59321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possible: every router along the way can look at the destination IP and decide which direction to forward the packet,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33140"/>
            <a:ext cx="17716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all the way to the correct network.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75710"/>
            <a:ext cx="589660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However, IP addresses alone cannot move a packet across a physical wire or radio link — that job belongs to MAC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20490"/>
            <a:ext cx="58445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addresses. At every single hop (laptop-to-router, router-to-router, router-to-destination), the Data Link layer wraps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6540"/>
            <a:ext cx="559180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the packet in a new Frame with a new source and destination MAC address — the MAC addresses of the two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13860"/>
            <a:ext cx="572389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00">
                <a:solidFill>
                  <a:srgbClr val="000000"/>
                </a:solidFill>
                <a:latin typeface="Noto Serif"/>
              </a:rPr>
              <a:t>devices on that link only. Once the frame arrives, the receiving device strips off that MAC header, checks the IP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59910"/>
            <a:ext cx="556895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address, and if it is not the final destination, sends it out again in a brand-new frame with a new pair of MAC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05960"/>
            <a:ext cx="13893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addresses for the next hop.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80280"/>
            <a:ext cx="14744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1F4D78"/>
                </a:solidFill>
                <a:latin typeface="Noto Serif"/>
              </a:rPr>
              <a:t>Concept Map in Action 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916940" y="5003800"/>
          <a:ext cx="5939789" cy="1052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9270"/>
                <a:gridCol w="2033269"/>
                <a:gridCol w="2127250"/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80" b="1" sz="1000">
                          <a:solidFill>
                            <a:srgbClr val="FFFFFF"/>
                          </a:solidFill>
                          <a:latin typeface="Noto Serif"/>
                        </a:rPr>
                        <a:t>Step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78" b="1" sz="1000">
                          <a:solidFill>
                            <a:srgbClr val="FFFFFF"/>
                          </a:solidFill>
                          <a:latin typeface="Noto Serif"/>
                        </a:rPr>
                        <a:t>What Stays the Same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3810" algn="l">
                        <a:lnSpc>
                          <a:spcPts val="1000"/>
                        </a:lnSpc>
                      </a:pPr>
                      <a:r>
                        <a:rPr spc="-69" b="1" sz="1000">
                          <a:solidFill>
                            <a:srgbClr val="FFFFFF"/>
                          </a:solidFill>
                          <a:latin typeface="Noto Serif"/>
                        </a:rPr>
                        <a:t>What Changes at Each Hop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74" sz="1000">
                          <a:solidFill>
                            <a:srgbClr val="000000"/>
                          </a:solidFill>
                          <a:latin typeface="Noto Serif"/>
                        </a:rPr>
                        <a:t>Laptop to Home Router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61" sz="1000">
                          <a:solidFill>
                            <a:srgbClr val="000000"/>
                          </a:solidFill>
                          <a:latin typeface="Noto Serif"/>
                        </a:rPr>
                        <a:t>Source IP, Destination IP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3810" algn="l">
                        <a:lnSpc>
                          <a:spcPts val="1000"/>
                        </a:lnSpc>
                      </a:pPr>
                      <a:r>
                        <a:rPr spc="-58" sz="1000">
                          <a:solidFill>
                            <a:srgbClr val="000000"/>
                          </a:solidFill>
                          <a:latin typeface="Noto Serif"/>
                        </a:rPr>
                        <a:t>MAC of laptop to MAC of home router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5909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65" sz="1000">
                          <a:solidFill>
                            <a:srgbClr val="000000"/>
                          </a:solidFill>
                          <a:latin typeface="Noto Serif"/>
                        </a:rPr>
                        <a:t>Home Router to ISP Router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61" sz="1000">
                          <a:solidFill>
                            <a:srgbClr val="000000"/>
                          </a:solidFill>
                          <a:latin typeface="Noto Serif"/>
                        </a:rPr>
                        <a:t>Source IP, Destination IP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40"/>
                        </a:lnSpc>
                      </a:pPr>
                      <a:r>
                        <a:rPr spc="-50" sz="1000">
                          <a:solidFill>
                            <a:srgbClr val="000000"/>
                          </a:solidFill>
                          <a:latin typeface="Noto Serif"/>
                        </a:rPr>
                        <a:t>MAC of home router to MAC of ISP </a:t>
                      </a:r>
                      <a:br/>
                      <a:r>
                        <a:rPr spc="-95" sz="1000">
                          <a:solidFill>
                            <a:srgbClr val="000000"/>
                          </a:solidFill>
                          <a:latin typeface="Noto Serif"/>
                        </a:rPr>
                        <a:t>router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65" sz="1000">
                          <a:solidFill>
                            <a:srgbClr val="000000"/>
                          </a:solidFill>
                          <a:latin typeface="Noto Serif"/>
                        </a:rPr>
                        <a:t>...multiple router hops...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61" sz="1000">
                          <a:solidFill>
                            <a:srgbClr val="000000"/>
                          </a:solidFill>
                          <a:latin typeface="Noto Serif"/>
                        </a:rPr>
                        <a:t>Source IP, Destination IP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3810" algn="l">
                        <a:lnSpc>
                          <a:spcPts val="1000"/>
                        </a:lnSpc>
                      </a:pPr>
                      <a:r>
                        <a:rPr spc="-66" sz="1000">
                          <a:solidFill>
                            <a:srgbClr val="000000"/>
                          </a:solidFill>
                          <a:latin typeface="Noto Serif"/>
                        </a:rPr>
                        <a:t>New MAC pair at every hop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  <a:p>
                      <a:pPr algn="ctr">
                        <a:lnSpc>
                          <a:spcPts val="990"/>
                        </a:lnSpc>
                      </a:pPr>
                      <a:r>
                        <a:rPr spc="-70" sz="1000">
                          <a:solidFill>
                            <a:srgbClr val="000000"/>
                          </a:solidFill>
                          <a:latin typeface="Noto Serif"/>
                        </a:rPr>
                        <a:t>Last Router to Destination Server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61" sz="1000">
                          <a:solidFill>
                            <a:srgbClr val="000000"/>
                          </a:solidFill>
                          <a:latin typeface="Noto Serif"/>
                        </a:rPr>
                        <a:t>Source IP, Destination IP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50"/>
                        </a:lnSpc>
                      </a:pPr>
                      <a:r>
                        <a:rPr spc="-47" sz="1000">
                          <a:solidFill>
                            <a:srgbClr val="000000"/>
                          </a:solidFill>
                          <a:latin typeface="Noto Serif"/>
                        </a:rPr>
                        <a:t>MAC of last router to MAC of </a:t>
                      </a:r>
                      <a:br/>
                      <a:r>
                        <a:rPr spc="-85" sz="1000">
                          <a:solidFill>
                            <a:srgbClr val="000000"/>
                          </a:solidFill>
                          <a:latin typeface="Noto Serif"/>
                        </a:rPr>
                        <a:t>destination server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14400" y="6388100"/>
            <a:ext cx="22148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300">
                <a:solidFill>
                  <a:srgbClr val="2E74B5"/>
                </a:solidFill>
                <a:latin typeface="Noto Serif"/>
              </a:rPr>
              <a:t>3.3 How ARP Connects the Two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48450"/>
            <a:ext cx="59550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000">
                <a:solidFill>
                  <a:srgbClr val="000000"/>
                </a:solidFill>
                <a:latin typeface="Noto Serif"/>
              </a:rPr>
              <a:t>A device usually only knows the destination's IP address, not its MAC address. To find the MAC address of the next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795770"/>
            <a:ext cx="595884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00">
                <a:solidFill>
                  <a:srgbClr val="000000"/>
                </a:solidFill>
                <a:latin typeface="Noto Serif"/>
              </a:rPr>
              <a:t>hop, devices use ARP (Address Resolution Protocol), which asks 'who has this IP address?' on the local network and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940550"/>
            <a:ext cx="569468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00">
                <a:solidFill>
                  <a:srgbClr val="000000"/>
                </a:solidFill>
                <a:latin typeface="Noto Serif"/>
              </a:rPr>
              <a:t>receives back the matching MAC address. This is the bridge that lets the Network layer's global addressing (IP)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086600"/>
            <a:ext cx="3378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000">
                <a:solidFill>
                  <a:srgbClr val="000000"/>
                </a:solidFill>
                <a:latin typeface="Noto Serif"/>
              </a:rPr>
              <a:t>work together with the Data Link layer's local addressing (MAC).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7363459"/>
            <a:ext cx="13385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1F4D78"/>
                </a:solidFill>
                <a:latin typeface="Noto Serif"/>
              </a:rPr>
              <a:t>Real-world examples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598409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7598409"/>
            <a:ext cx="53746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Example 1 — Sending a message abroad: The destination IP address (identifying the recipient's network)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7744459"/>
            <a:ext cx="52082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000">
                <a:solidFill>
                  <a:srgbClr val="000000"/>
                </a:solidFill>
                <a:latin typeface="Noto Serif"/>
              </a:rPr>
              <a:t>stays the same across the entire journey through many international routers, while the MAC addresses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7891780"/>
            <a:ext cx="3738879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change at every single router hop the message physically passes through.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8087359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8087359"/>
            <a:ext cx="54597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00">
                <a:solidFill>
                  <a:srgbClr val="000000"/>
                </a:solidFill>
                <a:latin typeface="Noto Serif"/>
              </a:rPr>
              <a:t>Example 2 — Office network to a cloud server: Your computer's frame first uses the MAC address of your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8234680"/>
            <a:ext cx="53098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office router (local delivery, one hop). The router then re-frames the packet with a new MAC address to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8380730"/>
            <a:ext cx="52971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000">
                <a:solidFill>
                  <a:srgbClr val="000000"/>
                </a:solidFill>
                <a:latin typeface="Noto Serif"/>
              </a:rPr>
              <a:t>reach the ISP, and so on, while the IP address of the cloud server never changes (global delivery, whole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8526780"/>
            <a:ext cx="4940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00">
                <a:solidFill>
                  <a:srgbClr val="000000"/>
                </a:solidFill>
                <a:latin typeface="Noto Serif"/>
              </a:rPr>
              <a:t>journey).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872363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8723630"/>
            <a:ext cx="53352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Example 3 — Home Wi-Fi printing: You print from your phone to a printer on the same Wi-Fi network.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8868410"/>
            <a:ext cx="539242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The phone can directly discover the printer's MAC address via ARP and deliver frames locally in a single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9014460"/>
            <a:ext cx="33972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hop — global (IP) routing through the internet is not even needed.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9" y="920750"/>
            <a:ext cx="5980430" cy="146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8759190"/>
            <a:ext cx="5932170" cy="1447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2810" y="916940"/>
          <a:ext cx="5988049" cy="7378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8049"/>
              </a:tblGrid>
              <a:tr h="737870"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20320" algn="l">
                        <a:lnSpc>
                          <a:spcPts val="1150"/>
                        </a:lnSpc>
                      </a:pPr>
                      <a:r>
                        <a:rPr spc="-116" i="1" b="1" sz="1000">
                          <a:solidFill>
                            <a:srgbClr val="000000"/>
                          </a:solidFill>
                          <a:latin typeface="Noto Serif"/>
                        </a:rPr>
                        <a:t>Summary: </a:t>
                      </a:r>
                      <a:r>
                        <a:rPr spc="-60" i="1" sz="1000">
                          <a:solidFill>
                            <a:srgbClr val="000000"/>
                          </a:solidFill>
                          <a:latin typeface="Noto Serif"/>
                        </a:rPr>
                        <a:t>MAC addresses handle LOCAL delivery — moving a frame across exactly one physical link — and </a:t>
                      </a:r>
                      <a:br/>
                      <a:r>
                        <a:rPr spc="-61" i="1" sz="1000">
                          <a:solidFill>
                            <a:srgbClr val="000000"/>
                          </a:solidFill>
                          <a:highlight>
                            <a:srgbClr val="efefef">
                              <a:alpha val="100000"/>
                            </a:srgbClr>
                          </a:highlight>
                          <a:latin typeface="Noto Serif"/>
                        </a:rPr>
                        <a:t>change at every hop. IP addresses handle GLOBAL delivery — identifying the true source and destination anywhere </a:t>
                      </a:r>
                      <a:r>
                        <a:rPr spc="-58" i="1" sz="1000">
                          <a:solidFill>
                            <a:srgbClr val="000000"/>
                          </a:solidFill>
                          <a:highlight>
                            <a:srgbClr val="efefef">
                              <a:alpha val="100000"/>
                            </a:srgbClr>
                          </a:highlight>
                          <a:latin typeface="Noto Serif"/>
                        </a:rPr>
                        <a:t>in the world — and stay constant for the whole journey. Together, hop-by-hop local delivery (MAC) chained end-to-</a:t>
                      </a:r>
                      <a:r>
                        <a:rPr spc="-63" i="1" sz="1000">
                          <a:solidFill>
                            <a:srgbClr val="000000"/>
                          </a:solidFill>
                          <a:highlight>
                            <a:srgbClr val="efefef">
                              <a:alpha val="100000"/>
                            </a:srgbClr>
                          </a:highlight>
                          <a:latin typeface="Noto Serif"/>
                        </a:rPr>
                        <a:t>end under a constant global address (IP) is what allows a packet to travel across many different networks and still </a:t>
                      </a:r>
                      <a:r>
                        <a:rPr spc="-62" i="1" sz="1000">
                          <a:solidFill>
                            <a:srgbClr val="000000"/>
                          </a:solidFill>
                          <a:latin typeface="Noto Serif"/>
                        </a:rPr>
                        <a:t>arrive at exactly the right destination.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989998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989998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989998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98999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874520"/>
            <a:ext cx="541909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3" sz="1600">
                <a:solidFill>
                  <a:srgbClr val="2E74B5"/>
                </a:solidFill>
                <a:latin typeface="Noto Serif"/>
              </a:rPr>
              <a:t>Question 4: Error Control Across Data Link and Transport Layers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3290"/>
            <a:ext cx="58064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000">
                <a:solidFill>
                  <a:srgbClr val="000000"/>
                </a:solidFill>
                <a:latin typeface="Noto Serif"/>
              </a:rPr>
              <a:t>Given concept map: Error Control to Data Link Layer to Error Detection, and Error Control to Transport Layer to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9340"/>
            <a:ext cx="9067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Error Correction.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4250" y="2586990"/>
            <a:ext cx="40487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2" sz="1000">
                <a:solidFill>
                  <a:srgbClr val="000000"/>
                </a:solidFill>
                <a:latin typeface="Roboto"/>
              </a:rPr>
              <a:t> Error Control --&gt; Data Link Layer --&gt; Error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250" y="2762250"/>
            <a:ext cx="41884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1" sz="1000">
                <a:solidFill>
                  <a:srgbClr val="000000"/>
                </a:solidFill>
                <a:latin typeface="Roboto"/>
              </a:rPr>
              <a:t> Error Control --&gt; Transport Layer  --&gt; Error 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9890"/>
            <a:ext cx="497332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Task: Analyze how the interaction between these layers improves reliability in data transmission.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39770"/>
            <a:ext cx="1619250" cy="163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300">
                <a:solidFill>
                  <a:srgbClr val="2E74B5"/>
                </a:solidFill>
                <a:latin typeface="Noto Serif"/>
              </a:rPr>
              <a:t>4.1 Why Errors Happen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00120"/>
            <a:ext cx="564895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Physical transmission media (copper cable, fiber, radio waves) are never perfect. Electrical noise, interference,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46170"/>
            <a:ext cx="59118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00">
                <a:solidFill>
                  <a:srgbClr val="000000"/>
                </a:solidFill>
                <a:latin typeface="Noto Serif"/>
              </a:rPr>
              <a:t>signal weakening (attenuation), or collisions can flip bits from 0 to 1 or 1 to 0 while data travels. If nothing checked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2220"/>
            <a:ext cx="57480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for this, corrupted data could silently reach applications and cause failures — so different OSI layers each play a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9540"/>
            <a:ext cx="202438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role in catching and fixing these errors.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48150"/>
            <a:ext cx="24993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300">
                <a:solidFill>
                  <a:srgbClr val="2E74B5"/>
                </a:solidFill>
                <a:latin typeface="Noto Serif"/>
              </a:rPr>
              <a:t>4.2 Data Link Layer: Error Detection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08500"/>
            <a:ext cx="59359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000">
                <a:solidFill>
                  <a:srgbClr val="000000"/>
                </a:solidFill>
                <a:latin typeface="Noto Serif"/>
              </a:rPr>
              <a:t>The Data Link layer deals with a single physical hop at a time — for example, one Wi-Fi link or one Ethernet cable.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55820"/>
            <a:ext cx="55130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Because it only manages one link, it is well-placed to quickly check whether a Frame arrived undamaged. It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1870"/>
            <a:ext cx="5953759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00">
                <a:solidFill>
                  <a:srgbClr val="000000"/>
                </a:solidFill>
                <a:latin typeface="Noto Serif"/>
              </a:rPr>
              <a:t>typically adds a trailer to each Frame containing a value calculated from the frame's contents, such as a CRC (Cyclic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47920"/>
            <a:ext cx="177418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Redundancy Check) or checksum.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8922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89220"/>
            <a:ext cx="406781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The sender calculates the CRC/checksum from the Frame's data and attaches it.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38607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86070"/>
            <a:ext cx="542163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000">
                <a:solidFill>
                  <a:srgbClr val="000000"/>
                </a:solidFill>
                <a:latin typeface="Noto Serif"/>
              </a:rPr>
              <a:t>The receiver recalculates the same value from the Frame it received and compares it to the attached value.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8165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581650"/>
            <a:ext cx="539495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If the two values do not match, the Frame is considered corrupted and is discarded — the Data Link layer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728970"/>
            <a:ext cx="5242559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000">
                <a:solidFill>
                  <a:srgbClr val="000000"/>
                </a:solidFill>
                <a:latin typeface="Noto Serif"/>
              </a:rPr>
              <a:t>usually detects the problem but does not fix it itself (some protocols on unreliable links, like Wi-Fi, do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875020"/>
            <a:ext cx="32524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request a local retransmission, but many, like Ethernet, do not).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83630"/>
            <a:ext cx="25412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300">
                <a:solidFill>
                  <a:srgbClr val="2E74B5"/>
                </a:solidFill>
                <a:latin typeface="Noto Serif"/>
              </a:rPr>
              <a:t>4.3 Transport Layer: Error Correction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446520"/>
            <a:ext cx="588899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The Transport layer (e.g., TCP) is responsible for the entire end-to-end journey from the original sender to the final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592570"/>
            <a:ext cx="58242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000">
                <a:solidFill>
                  <a:srgbClr val="000000"/>
                </a:solidFill>
                <a:latin typeface="Noto Serif"/>
              </a:rPr>
              <a:t>receiver, no matter how many hops, routers, or links are involved. Because it sees the full picture, it can guarantee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738620"/>
            <a:ext cx="43853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that the complete, correct data eventually arrives, not just that one hop was error-free.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697992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6979920"/>
            <a:ext cx="494284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Every Segment is given a sequence number, so the receiver can tell if any Segments are missing,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7125970"/>
            <a:ext cx="17843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duplicated, or arrived out of order.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32282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7322820"/>
            <a:ext cx="50660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The receiver sends back acknowledgements (ACKs) confirming which Segments arrived correctly.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51967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7519670"/>
            <a:ext cx="544195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000">
                <a:solidFill>
                  <a:srgbClr val="000000"/>
                </a:solidFill>
                <a:latin typeface="Noto Serif"/>
              </a:rPr>
              <a:t>If the sender does not receive an ACK in time (implying the Segment was lost or discarded somewhere), it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7665720"/>
            <a:ext cx="51092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000">
                <a:solidFill>
                  <a:srgbClr val="000000"/>
                </a:solidFill>
                <a:latin typeface="Noto Serif"/>
              </a:rPr>
              <a:t>retransmits that Segment. This process is called ARQ (Automatic Repeat reQuest), and it is how the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7810500"/>
            <a:ext cx="52882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000">
                <a:solidFill>
                  <a:srgbClr val="000000"/>
                </a:solidFill>
                <a:latin typeface="Noto Serif"/>
              </a:rPr>
              <a:t>Transport layer 'corrects' the error — not by fixing bad bits directly, but by getting a fresh, correct copy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7956550"/>
            <a:ext cx="16764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000">
                <a:solidFill>
                  <a:srgbClr val="000000"/>
                </a:solidFill>
                <a:latin typeface="Noto Serif"/>
              </a:rPr>
              <a:t>resent until the data is complete.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8267700"/>
            <a:ext cx="2741929" cy="1638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300">
                <a:solidFill>
                  <a:srgbClr val="2E74B5"/>
                </a:solidFill>
                <a:latin typeface="Noto Serif"/>
              </a:rPr>
              <a:t>4.4 How the Two Layers Work Together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8528050"/>
            <a:ext cx="380237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These two layers form two lines of defense, each suited to what it can see: 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916940" y="8755380"/>
          <a:ext cx="5939789" cy="292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3499"/>
                <a:gridCol w="2129790"/>
                <a:gridCol w="2476500"/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85" b="1" sz="1000">
                          <a:solidFill>
                            <a:srgbClr val="FFFFFF"/>
                          </a:solidFill>
                          <a:latin typeface="Noto Serif"/>
                        </a:rPr>
                        <a:t>Aspect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64" b="1" sz="1000">
                          <a:solidFill>
                            <a:srgbClr val="FFFFFF"/>
                          </a:solidFill>
                          <a:latin typeface="Noto Serif"/>
                        </a:rPr>
                        <a:t>Data Link Layer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3810" algn="l">
                        <a:lnSpc>
                          <a:spcPts val="990"/>
                        </a:lnSpc>
                      </a:pPr>
                      <a:r>
                        <a:rPr spc="-75" b="1" sz="1000">
                          <a:solidFill>
                            <a:srgbClr val="FFFFFF"/>
                          </a:solidFill>
                          <a:latin typeface="Noto Serif"/>
                        </a:rPr>
                        <a:t>Transport Layer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54" sz="1000">
                          <a:solidFill>
                            <a:srgbClr val="000000"/>
                          </a:solidFill>
                          <a:latin typeface="Noto Serif"/>
                        </a:rPr>
                        <a:t>Scope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990"/>
                        </a:lnSpc>
                      </a:pPr>
                      <a:r>
                        <a:rPr spc="-68" sz="1000">
                          <a:solidFill>
                            <a:srgbClr val="000000"/>
                          </a:solidFill>
                          <a:latin typeface="Noto Serif"/>
                        </a:rPr>
                        <a:t>One physical link (one hop)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3810" algn="l">
                        <a:lnSpc>
                          <a:spcPts val="990"/>
                        </a:lnSpc>
                      </a:pPr>
                      <a:r>
                        <a:rPr spc="-71" sz="1000">
                          <a:solidFill>
                            <a:srgbClr val="000000"/>
                          </a:solidFill>
                          <a:latin typeface="Noto Serif"/>
                        </a:rPr>
                        <a:t>Entire end-to-end path (all hops)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6940" y="916940"/>
          <a:ext cx="5939789" cy="7505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3499"/>
                <a:gridCol w="2129790"/>
                <a:gridCol w="2476500"/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87" sz="1000">
                          <a:solidFill>
                            <a:srgbClr val="000000"/>
                          </a:solidFill>
                          <a:latin typeface="Noto Serif"/>
                        </a:rPr>
                        <a:t>Mechanism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66" sz="1000">
                          <a:solidFill>
                            <a:srgbClr val="000000"/>
                          </a:solidFill>
                          <a:latin typeface="Noto Serif"/>
                        </a:rPr>
                        <a:t>CRC / checksum in frame trailer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"/>
                        </a:lnSpc>
                      </a:pPr>
                    </a:p>
                    <a:p>
                      <a:pPr marL="3810" algn="l">
                        <a:lnSpc>
                          <a:spcPts val="1000"/>
                        </a:lnSpc>
                      </a:pPr>
                      <a:r>
                        <a:rPr spc="-75" sz="1000">
                          <a:solidFill>
                            <a:srgbClr val="000000"/>
                          </a:solidFill>
                          <a:latin typeface="Noto Serif"/>
                        </a:rPr>
                        <a:t>Sequence numbers + acknowledgements (ARQ)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9719"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75" sz="1000">
                          <a:solidFill>
                            <a:srgbClr val="000000"/>
                          </a:solidFill>
                          <a:latin typeface="Noto Serif"/>
                        </a:rPr>
                        <a:t>Action on error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80" sz="1000">
                          <a:solidFill>
                            <a:srgbClr val="000000"/>
                          </a:solidFill>
                          <a:latin typeface="Noto Serif"/>
                        </a:rPr>
                        <a:t>Detects and discards the bad frame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50"/>
                        </a:lnSpc>
                      </a:pPr>
                      <a:r>
                        <a:rPr spc="-77" sz="1000">
                          <a:solidFill>
                            <a:srgbClr val="000000"/>
                          </a:solidFill>
                          <a:latin typeface="Noto Serif"/>
                        </a:rPr>
                        <a:t>Detects the missing/bad segment and </a:t>
                      </a:r>
                      <a:br/>
                      <a:r>
                        <a:rPr spc="-84" sz="1000">
                          <a:solidFill>
                            <a:srgbClr val="000000"/>
                          </a:solidFill>
                          <a:latin typeface="Noto Serif"/>
                        </a:rPr>
                        <a:t>retransmits it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5080" algn="l">
                        <a:lnSpc>
                          <a:spcPts val="1000"/>
                        </a:lnSpc>
                      </a:pPr>
                      <a:r>
                        <a:rPr spc="-56" sz="1000">
                          <a:solidFill>
                            <a:srgbClr val="000000"/>
                          </a:solidFill>
                          <a:latin typeface="Noto Serif"/>
                        </a:rPr>
                        <a:t>Result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5080" algn="l">
                        <a:lnSpc>
                          <a:spcPts val="1150"/>
                        </a:lnSpc>
                      </a:pPr>
                      <a:r>
                        <a:rPr spc="-81" sz="1000">
                          <a:solidFill>
                            <a:srgbClr val="000000"/>
                          </a:solidFill>
                          <a:latin typeface="Noto Serif"/>
                        </a:rPr>
                        <a:t>Prevents locally corrupted frames from </a:t>
                      </a:r>
                      <a:r>
                        <a:rPr spc="-82" sz="1000">
                          <a:solidFill>
                            <a:srgbClr val="000000"/>
                          </a:solidFill>
                          <a:latin typeface="Noto Serif"/>
                        </a:rPr>
                        <a:t>moving further up the stack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3810" algn="l">
                        <a:lnSpc>
                          <a:spcPts val="1150"/>
                        </a:lnSpc>
                      </a:pPr>
                      <a:r>
                        <a:rPr spc="-83" sz="1000">
                          <a:solidFill>
                            <a:srgbClr val="000000"/>
                          </a:solidFill>
                          <a:latin typeface="Noto Serif"/>
                        </a:rPr>
                        <a:t>Guarantees complete, correctly ordered data </a:t>
                      </a:r>
                      <a:br/>
                      <a:r>
                        <a:rPr spc="-79" sz="1000">
                          <a:solidFill>
                            <a:srgbClr val="000000"/>
                          </a:solidFill>
                          <a:latin typeface="Noto Serif"/>
                        </a:rPr>
                        <a:t>arrives at the final destination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1960880"/>
            <a:ext cx="567944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000">
                <a:solidFill>
                  <a:srgbClr val="000000"/>
                </a:solidFill>
                <a:latin typeface="Noto Serif"/>
              </a:rPr>
              <a:t>Because the Data Link layer discards clearly corrupted frames close to where the damage happened, it prevents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6930"/>
            <a:ext cx="5966459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wasted effort — there is no point sending obviously broken data further across the network. But because a Data Link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51710"/>
            <a:ext cx="550291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layer can only see its own single hop, it cannot know if a Packet was dropped somewhere else entirely, or if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7760"/>
            <a:ext cx="56134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congestion on a distant router caused loss. That is exactly the gap the Transport layer fills: by tracking the full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3810"/>
            <a:ext cx="59575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journey with sequence numbers and acknowledgements, it notices any missing piece, regardless of which hop lost it,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9860"/>
            <a:ext cx="57454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and requests a fresh copy. Together, this layered interaction means: local damage is caught and removed quickly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7180"/>
            <a:ext cx="59055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(efficient), while end-to-end completeness is still guaranteed (reliable) — the system does not depend on any single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3230"/>
            <a:ext cx="500507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000">
                <a:solidFill>
                  <a:srgbClr val="000000"/>
                </a:solidFill>
                <a:latin typeface="Noto Serif"/>
              </a:rPr>
              <a:t>hop being perfect, only on the overall retransmission mechanism catching whatever slips through.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58820"/>
            <a:ext cx="13385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1F4D78"/>
                </a:solidFill>
                <a:latin typeface="Noto Serif"/>
              </a:rPr>
              <a:t>Real-world examples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9377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93770"/>
            <a:ext cx="52438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Example 1 — Downloading a software update: If Wi-Fi interference corrupts a frame midway through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820"/>
            <a:ext cx="537590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downloading, the Data Link layer on that hop detects the CRC mismatch and drops the frame; TCP at the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87140"/>
            <a:ext cx="537972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000">
                <a:solidFill>
                  <a:srgbClr val="000000"/>
                </a:solidFill>
                <a:latin typeface="Noto Serif"/>
              </a:rPr>
              <a:t>Transport layer eventually notices the corresponding segment was never acknowledged and resends it, so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33190"/>
            <a:ext cx="277241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the final downloaded file is still complete and correct.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30040"/>
            <a:ext cx="762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30040"/>
            <a:ext cx="550037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Example 2 — Video call over a shaky mobile network: Data Link error detection quietly discards corrupted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76090"/>
            <a:ext cx="48641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000">
                <a:solidFill>
                  <a:srgbClr val="000000"/>
                </a:solidFill>
                <a:latin typeface="Noto Serif"/>
              </a:rPr>
              <a:t>frames on the mobile radio link as they happen, hop by hop, while the Transport layer manages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22140"/>
            <a:ext cx="2413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000">
                <a:solidFill>
                  <a:srgbClr val="000000"/>
                </a:solidFill>
                <a:latin typeface="Noto Serif"/>
              </a:rPr>
              <a:t>retransmission, keeping the overall call usable.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8990"/>
            <a:ext cx="7620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18990"/>
            <a:ext cx="4850130" cy="125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Example 3 — Online banking transaction: A single corrupted frame on a router hop is dropped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65040"/>
            <a:ext cx="531240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000">
                <a:solidFill>
                  <a:srgbClr val="000000"/>
                </a:solidFill>
                <a:latin typeface="Noto Serif"/>
              </a:rPr>
              <a:t>immediately (Data Link detection), and TCP's acknowledgement/retransmission mechanism ensures the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09820"/>
            <a:ext cx="52539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exact banking data segment is resent and received intact, which is critical since banking data cannot be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055870"/>
            <a:ext cx="203453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000">
                <a:solidFill>
                  <a:srgbClr val="000000"/>
                </a:solidFill>
                <a:latin typeface="Noto Serif"/>
              </a:rPr>
              <a:t>allowed to arrive incomplete or altered. 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92810" y="5252720"/>
          <a:ext cx="5988049" cy="59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8049"/>
              </a:tblGrid>
              <a:tr h="590550"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20320" algn="l">
                        <a:lnSpc>
                          <a:spcPts val="1150"/>
                        </a:lnSpc>
                      </a:pPr>
                      <a:r>
                        <a:rPr spc="-116" i="1" b="1" sz="1000">
                          <a:solidFill>
                            <a:srgbClr val="000000"/>
                          </a:solidFill>
                          <a:highlight>
                            <a:srgbClr val="efefef">
                              <a:alpha val="100000"/>
                            </a:srgbClr>
                          </a:highlight>
                          <a:latin typeface="Noto Serif"/>
                        </a:rPr>
                        <a:t>Summary: </a:t>
                      </a:r>
                      <a:r>
                        <a:rPr spc="-54" i="1" sz="1000">
                          <a:solidFill>
                            <a:srgbClr val="000000"/>
                          </a:solidFill>
                          <a:highlight>
                            <a:srgbClr val="efefef">
                              <a:alpha val="100000"/>
                            </a:srgbClr>
                          </a:highlight>
                          <a:latin typeface="Noto Serif"/>
                        </a:rPr>
                        <a:t>The Data Link layer provides fast, local error DETECTION on each individual hop (catch and discard), </a:t>
                      </a:r>
                      <a:r>
                        <a:rPr spc="-60" i="1" sz="1000">
                          <a:solidFill>
                            <a:srgbClr val="000000"/>
                          </a:solidFill>
                          <a:latin typeface="Noto Serif"/>
                        </a:rPr>
                        <a:t>while the Transport layer provides end-to-end error CORRECTION across the whole path (detect what's missing </a:t>
                      </a:r>
                      <a:br/>
                      <a:r>
                        <a:rPr spc="-61" i="1" sz="1000">
                          <a:solidFill>
                            <a:srgbClr val="000000"/>
                          </a:solidFill>
                          <a:highlight>
                            <a:srgbClr val="efefef">
                              <a:alpha val="100000"/>
                            </a:srgbClr>
                          </a:highlight>
                          <a:latin typeface="Noto Serif"/>
                        </a:rPr>
                        <a:t>and retransmit it). This two-layer interaction — local filtering plus a global guarantee — is what makes overall data </a:t>
                      </a:r>
                      <a:r>
                        <a:rPr spc="-62" i="1" sz="1000">
                          <a:solidFill>
                            <a:srgbClr val="000000"/>
                          </a:solidFill>
                          <a:latin typeface="Noto Serif"/>
                        </a:rPr>
                        <a:t>transmission reliable despite imperfect physical links.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989998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989998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989998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98999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14400" y="6062980"/>
            <a:ext cx="13208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600">
                <a:solidFill>
                  <a:srgbClr val="2E74B5"/>
                </a:solidFill>
                <a:latin typeface="Noto Serif"/>
              </a:rPr>
              <a:t>Quick Revision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638175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381750"/>
            <a:ext cx="54305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000">
                <a:solidFill>
                  <a:srgbClr val="000000"/>
                </a:solidFill>
                <a:latin typeface="Noto Serif"/>
              </a:rPr>
              <a:t>Data units by layer: Data (upper layers) to Segment (Transport) to Packet (Network) to Frame (Data Link)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529070"/>
            <a:ext cx="94615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6" sz="1000">
                <a:solidFill>
                  <a:srgbClr val="000000"/>
                </a:solidFill>
                <a:latin typeface="Noto Serif"/>
              </a:rPr>
              <a:t>to Bits (Physical).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672465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724650"/>
            <a:ext cx="55003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000">
                <a:solidFill>
                  <a:srgbClr val="000000"/>
                </a:solidFill>
                <a:latin typeface="Noto Serif"/>
              </a:rPr>
              <a:t>Encapsulation adds a header (and sometimes trailer) at each layer going down; decapsulation removes them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6871970"/>
            <a:ext cx="153543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000">
                <a:solidFill>
                  <a:srgbClr val="000000"/>
                </a:solidFill>
                <a:latin typeface="Noto Serif"/>
              </a:rPr>
              <a:t>going back up at the receiver.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06755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7067550"/>
            <a:ext cx="5384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000">
                <a:solidFill>
                  <a:srgbClr val="000000"/>
                </a:solidFill>
                <a:latin typeface="Noto Serif"/>
              </a:rPr>
              <a:t>MAC address = local, physical, changes every hop. IP address = global, logical, stays the same the whole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7214870"/>
            <a:ext cx="45085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journey.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41172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7411720"/>
            <a:ext cx="390906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000">
                <a:solidFill>
                  <a:srgbClr val="000000"/>
                </a:solidFill>
                <a:latin typeface="Noto Serif"/>
              </a:rPr>
              <a:t>ARP maps a known IP address to the correct MAC address for the next hop.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0984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7609840"/>
            <a:ext cx="433959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000">
                <a:solidFill>
                  <a:srgbClr val="000000"/>
                </a:solidFill>
                <a:latin typeface="Noto Serif"/>
              </a:rPr>
              <a:t>Data Link layer = error DETECTION per hop (CRC/checksum, discard bad frames).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805420"/>
            <a:ext cx="76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7805420"/>
            <a:ext cx="51904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000">
                <a:solidFill>
                  <a:srgbClr val="000000"/>
                </a:solidFill>
                <a:latin typeface="Noto Serif"/>
              </a:rPr>
              <a:t>Transport layer = error CORRECTION end-to-end (sequence numbers, ACKs, retransmission/ARQ).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8152130"/>
            <a:ext cx="2890520" cy="2019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8" sz="1600">
                <a:solidFill>
                  <a:srgbClr val="2E74B5"/>
                </a:solidFill>
                <a:latin typeface="Noto Serif"/>
              </a:rPr>
              <a:t>Questions to Check Understanding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847090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8470900"/>
            <a:ext cx="520319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000">
                <a:solidFill>
                  <a:srgbClr val="000000"/>
                </a:solidFill>
                <a:latin typeface="Noto Serif"/>
              </a:rPr>
              <a:t>1. Why does the same message get a different name (Data, Segment, Packet, Frame, Bits) at each OSI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8616950"/>
            <a:ext cx="3429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000">
                <a:solidFill>
                  <a:srgbClr val="000000"/>
                </a:solidFill>
                <a:latin typeface="Noto Serif"/>
              </a:rPr>
              <a:t>layer?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881380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8813800"/>
            <a:ext cx="543687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000">
                <a:solidFill>
                  <a:srgbClr val="000000"/>
                </a:solidFill>
                <a:latin typeface="Noto Serif"/>
              </a:rPr>
              <a:t>2. If a packet crosses 5 routers to reach its destination, how many times does its MAC address change, and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8959850"/>
            <a:ext cx="229362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000">
                <a:solidFill>
                  <a:srgbClr val="000000"/>
                </a:solidFill>
                <a:latin typeface="Noto Serif"/>
              </a:rPr>
              <a:t>how many times does its IP address change?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32180"/>
            <a:ext cx="7620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00">
                <a:solidFill>
                  <a:srgbClr val="000000"/>
                </a:solidFill>
                <a:latin typeface="Noto Serif"/>
              </a:rPr>
              <a:t>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32180"/>
            <a:ext cx="455168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000">
                <a:solidFill>
                  <a:srgbClr val="000000"/>
                </a:solidFill>
                <a:latin typeface="Noto Serif"/>
              </a:rPr>
              <a:t>3. Why can the Data Link layer only detect an error and not always correct it on its own?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